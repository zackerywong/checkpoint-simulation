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9" r:id="rId2"/>
    <p:sldId id="258" r:id="rId3"/>
    <p:sldId id="261" r:id="rId4"/>
    <p:sldId id="262" r:id="rId5"/>
    <p:sldId id="26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128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2852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3737315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4162694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4EA085-2D3C-493B-9767-030DED0C5AA9}" type="datetimeFigureOut">
              <a:rPr lang="en-SG" smtClean="0"/>
              <a:t>6/6/2026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1702683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4EA085-2D3C-493B-9767-030DED0C5AA9}" type="datetimeFigureOut">
              <a:rPr lang="en-SG" smtClean="0"/>
              <a:t>6/6/2026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3553476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4EA085-2D3C-493B-9767-030DED0C5AA9}" type="datetimeFigureOut">
              <a:rPr lang="en-SG" smtClean="0"/>
              <a:t>6/6/2026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642508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4EA085-2D3C-493B-9767-030DED0C5AA9}" type="datetimeFigureOut">
              <a:rPr lang="en-SG" smtClean="0"/>
              <a:t>6/6/2026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5249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4EA085-2D3C-493B-9767-030DED0C5AA9}" type="datetimeFigureOut">
              <a:rPr lang="en-SG" smtClean="0"/>
              <a:t>6/6/2026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3475917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4EA085-2D3C-493B-9767-030DED0C5AA9}" type="datetimeFigureOut">
              <a:rPr lang="en-SG" smtClean="0"/>
              <a:t>6/6/2026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200296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C84EA085-2D3C-493B-9767-030DED0C5AA9}" type="datetimeFigureOut">
              <a:rPr lang="en-SG" smtClean="0"/>
              <a:t>6/6/2026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1019645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1209463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734459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1598210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7678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3837470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3599951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4EA085-2D3C-493B-9767-030DED0C5AA9}" type="datetimeFigureOut">
              <a:rPr lang="en-SG" smtClean="0"/>
              <a:t>6/6/2026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64275DE-693C-47C5-93B6-878157EE4794}" type="slidenum">
              <a:rPr lang="en-SG" smtClean="0"/>
              <a:t>‹#›</a:t>
            </a:fld>
            <a:endParaRPr lang="en-SG"/>
          </a:p>
        </p:txBody>
      </p:sp>
    </p:spTree>
    <p:extLst>
      <p:ext uri="{BB962C8B-B14F-4D97-AF65-F5344CB8AC3E}">
        <p14:creationId xmlns:p14="http://schemas.microsoft.com/office/powerpoint/2010/main" val="172057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84EA085-2D3C-493B-9767-030DED0C5AA9}" type="datetimeFigureOut">
              <a:rPr lang="en-SG" smtClean="0"/>
              <a:t>6/6/2026</a:t>
            </a:fld>
            <a:endParaRPr lang="en-SG"/>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SG"/>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64275DE-693C-47C5-93B6-878157EE4794}" type="slidenum">
              <a:rPr lang="en-SG" smtClean="0"/>
              <a:t>‹#›</a:t>
            </a:fld>
            <a:endParaRPr lang="en-SG"/>
          </a:p>
        </p:txBody>
      </p:sp>
    </p:spTree>
    <p:extLst>
      <p:ext uri="{BB962C8B-B14F-4D97-AF65-F5344CB8AC3E}">
        <p14:creationId xmlns:p14="http://schemas.microsoft.com/office/powerpoint/2010/main" val="1753388808"/>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4871BB-EB5A-BC79-9874-6C1C3F91512A}"/>
              </a:ext>
            </a:extLst>
          </p:cNvPr>
          <p:cNvSpPr txBox="1">
            <a:spLocks/>
          </p:cNvSpPr>
          <p:nvPr/>
        </p:nvSpPr>
        <p:spPr>
          <a:xfrm>
            <a:off x="449485" y="365597"/>
            <a:ext cx="10622375" cy="827121"/>
          </a:xfrm>
          <a:prstGeom prst="rect">
            <a:avLst/>
          </a:prstGeom>
          <a:effectLst/>
        </p:spPr>
        <p:txBody>
          <a:bodyPr vert="horz" lIns="91440" tIns="45720" rIns="91440" bIns="45720" rtlCol="0" anchor="ctr">
            <a:normAutofit fontScale="975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Simulation Design and assumptions</a:t>
            </a:r>
            <a:endParaRPr lang="en-SG" dirty="0"/>
          </a:p>
        </p:txBody>
      </p:sp>
      <p:pic>
        <p:nvPicPr>
          <p:cNvPr id="9" name="Picture 8">
            <a:extLst>
              <a:ext uri="{FF2B5EF4-FFF2-40B4-BE49-F238E27FC236}">
                <a16:creationId xmlns:a16="http://schemas.microsoft.com/office/drawing/2014/main" id="{DC75C0CE-B411-1852-9BDD-B76C9727AD94}"/>
              </a:ext>
            </a:extLst>
          </p:cNvPr>
          <p:cNvPicPr>
            <a:picLocks noChangeAspect="1"/>
          </p:cNvPicPr>
          <p:nvPr/>
        </p:nvPicPr>
        <p:blipFill>
          <a:blip r:embed="rId2"/>
          <a:stretch>
            <a:fillRect/>
          </a:stretch>
        </p:blipFill>
        <p:spPr>
          <a:xfrm>
            <a:off x="449485" y="1481471"/>
            <a:ext cx="5720337" cy="5158800"/>
          </a:xfrm>
          <a:prstGeom prst="rect">
            <a:avLst/>
          </a:prstGeom>
        </p:spPr>
      </p:pic>
      <p:sp>
        <p:nvSpPr>
          <p:cNvPr id="11" name="Speech Bubble: Rectangle 10">
            <a:extLst>
              <a:ext uri="{FF2B5EF4-FFF2-40B4-BE49-F238E27FC236}">
                <a16:creationId xmlns:a16="http://schemas.microsoft.com/office/drawing/2014/main" id="{1C2D2A52-18FB-E404-7707-372A7EEFBBC6}"/>
              </a:ext>
            </a:extLst>
          </p:cNvPr>
          <p:cNvSpPr/>
          <p:nvPr/>
        </p:nvSpPr>
        <p:spPr>
          <a:xfrm>
            <a:off x="4547670" y="2040340"/>
            <a:ext cx="1368634" cy="400460"/>
          </a:xfrm>
          <a:prstGeom prst="wedgeRectCallout">
            <a:avLst>
              <a:gd name="adj1" fmla="val -101402"/>
              <a:gd name="adj2" fmla="val -136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Baggage Counters</a:t>
            </a:r>
            <a:endParaRPr lang="en-SG" sz="1400" dirty="0"/>
          </a:p>
        </p:txBody>
      </p:sp>
      <p:sp>
        <p:nvSpPr>
          <p:cNvPr id="15" name="Speech Bubble: Rectangle 14">
            <a:extLst>
              <a:ext uri="{FF2B5EF4-FFF2-40B4-BE49-F238E27FC236}">
                <a16:creationId xmlns:a16="http://schemas.microsoft.com/office/drawing/2014/main" id="{E3007326-25E6-DFE8-6D95-D5821B7DFFE7}"/>
              </a:ext>
            </a:extLst>
          </p:cNvPr>
          <p:cNvSpPr/>
          <p:nvPr/>
        </p:nvSpPr>
        <p:spPr>
          <a:xfrm>
            <a:off x="4547670" y="2713066"/>
            <a:ext cx="1548330" cy="487907"/>
          </a:xfrm>
          <a:prstGeom prst="wedgeRectCallout">
            <a:avLst>
              <a:gd name="adj1" fmla="val -99653"/>
              <a:gd name="adj2" fmla="val 256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No Baggage Counters</a:t>
            </a:r>
            <a:endParaRPr lang="en-SG" sz="1400" dirty="0"/>
          </a:p>
        </p:txBody>
      </p:sp>
      <p:sp>
        <p:nvSpPr>
          <p:cNvPr id="17" name="Speech Bubble: Rectangle 16">
            <a:extLst>
              <a:ext uri="{FF2B5EF4-FFF2-40B4-BE49-F238E27FC236}">
                <a16:creationId xmlns:a16="http://schemas.microsoft.com/office/drawing/2014/main" id="{E6CBFE9E-73F8-D6D2-5DAA-51E7CE5AA894}"/>
              </a:ext>
            </a:extLst>
          </p:cNvPr>
          <p:cNvSpPr/>
          <p:nvPr/>
        </p:nvSpPr>
        <p:spPr>
          <a:xfrm>
            <a:off x="3683657" y="3672541"/>
            <a:ext cx="1850510" cy="487907"/>
          </a:xfrm>
          <a:prstGeom prst="wedgeRectCallout">
            <a:avLst>
              <a:gd name="adj1" fmla="val -112983"/>
              <a:gd name="adj2" fmla="val 3127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Manual Passport Counters</a:t>
            </a:r>
            <a:endParaRPr lang="en-SG" sz="1400" dirty="0"/>
          </a:p>
        </p:txBody>
      </p:sp>
      <p:sp>
        <p:nvSpPr>
          <p:cNvPr id="19" name="Speech Bubble: Rectangle 18">
            <a:extLst>
              <a:ext uri="{FF2B5EF4-FFF2-40B4-BE49-F238E27FC236}">
                <a16:creationId xmlns:a16="http://schemas.microsoft.com/office/drawing/2014/main" id="{C1D1ACBF-7F9A-FB6E-4ECD-2D2C5CBF4B19}"/>
              </a:ext>
            </a:extLst>
          </p:cNvPr>
          <p:cNvSpPr/>
          <p:nvPr/>
        </p:nvSpPr>
        <p:spPr>
          <a:xfrm>
            <a:off x="3622415" y="5749275"/>
            <a:ext cx="1850510" cy="487907"/>
          </a:xfrm>
          <a:prstGeom prst="wedgeRectCallout">
            <a:avLst>
              <a:gd name="adj1" fmla="val -110033"/>
              <a:gd name="adj2" fmla="val -11418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Auto Passport Counters</a:t>
            </a:r>
            <a:endParaRPr lang="en-SG" sz="1400" dirty="0"/>
          </a:p>
        </p:txBody>
      </p:sp>
      <p:sp>
        <p:nvSpPr>
          <p:cNvPr id="21" name="Speech Bubble: Rectangle 20">
            <a:extLst>
              <a:ext uri="{FF2B5EF4-FFF2-40B4-BE49-F238E27FC236}">
                <a16:creationId xmlns:a16="http://schemas.microsoft.com/office/drawing/2014/main" id="{90F644DD-A235-3AFC-130A-A140B5A93CEF}"/>
              </a:ext>
            </a:extLst>
          </p:cNvPr>
          <p:cNvSpPr/>
          <p:nvPr/>
        </p:nvSpPr>
        <p:spPr>
          <a:xfrm>
            <a:off x="538195" y="3916494"/>
            <a:ext cx="983530" cy="487907"/>
          </a:xfrm>
          <a:prstGeom prst="wedgeRectCallout">
            <a:avLst>
              <a:gd name="adj1" fmla="val 40713"/>
              <a:gd name="adj2" fmla="val -1001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Referral Counter</a:t>
            </a:r>
            <a:endParaRPr lang="en-SG" sz="1400" dirty="0"/>
          </a:p>
        </p:txBody>
      </p:sp>
      <p:sp>
        <p:nvSpPr>
          <p:cNvPr id="22" name="TextBox 21">
            <a:extLst>
              <a:ext uri="{FF2B5EF4-FFF2-40B4-BE49-F238E27FC236}">
                <a16:creationId xmlns:a16="http://schemas.microsoft.com/office/drawing/2014/main" id="{BF783C58-9DCC-8B07-16D5-D1C635DBB99E}"/>
              </a:ext>
            </a:extLst>
          </p:cNvPr>
          <p:cNvSpPr txBox="1"/>
          <p:nvPr/>
        </p:nvSpPr>
        <p:spPr>
          <a:xfrm>
            <a:off x="6328802" y="1481471"/>
            <a:ext cx="4879074" cy="4401205"/>
          </a:xfrm>
          <a:prstGeom prst="rect">
            <a:avLst/>
          </a:prstGeom>
          <a:solidFill>
            <a:schemeClr val="bg2">
              <a:lumMod val="75000"/>
            </a:schemeClr>
          </a:solidFill>
        </p:spPr>
        <p:txBody>
          <a:bodyPr wrap="square" rtlCol="0">
            <a:spAutoFit/>
          </a:bodyPr>
          <a:lstStyle/>
          <a:p>
            <a:r>
              <a:rPr lang="en-US" sz="1400" dirty="0"/>
              <a:t>Assumptions</a:t>
            </a:r>
          </a:p>
          <a:p>
            <a:pPr marL="228600" lvl="0" indent="-228600">
              <a:buFont typeface="+mj-lt"/>
              <a:buAutoNum type="arabicPeriod"/>
            </a:pPr>
            <a:r>
              <a:rPr lang="en-US" sz="1400" dirty="0"/>
              <a:t>1All </a:t>
            </a:r>
            <a:r>
              <a:rPr lang="en-US" sz="1400" dirty="0" err="1"/>
              <a:t>travellers</a:t>
            </a:r>
            <a:r>
              <a:rPr lang="en-US" sz="1400" dirty="0"/>
              <a:t> must complete a Security Check in Phase </a:t>
            </a:r>
            <a:endParaRPr lang="en-SG" sz="1400" dirty="0"/>
          </a:p>
          <a:p>
            <a:pPr marL="228600" lvl="0" indent="-228600">
              <a:buFont typeface="+mj-lt"/>
              <a:buAutoNum type="arabicPeriod"/>
            </a:pPr>
            <a:r>
              <a:rPr lang="en-US" sz="1400" dirty="0"/>
              <a:t>All </a:t>
            </a:r>
            <a:r>
              <a:rPr lang="en-US" sz="1400" dirty="0" err="1"/>
              <a:t>travellers</a:t>
            </a:r>
            <a:r>
              <a:rPr lang="en-US" sz="1400" dirty="0"/>
              <a:t> must complete a Passport Check in Phase </a:t>
            </a:r>
            <a:endParaRPr lang="en-SG" sz="1400" dirty="0"/>
          </a:p>
          <a:p>
            <a:pPr marL="228600" lvl="0" indent="-228600">
              <a:buFont typeface="+mj-lt"/>
              <a:buAutoNum type="arabicPeriod"/>
            </a:pPr>
            <a:r>
              <a:rPr lang="en-US" sz="1400" dirty="0"/>
              <a:t>All </a:t>
            </a:r>
            <a:r>
              <a:rPr lang="en-US" sz="1400" dirty="0" err="1"/>
              <a:t>travellers</a:t>
            </a:r>
            <a:r>
              <a:rPr lang="en-US" sz="1400" dirty="0"/>
              <a:t> will spend Uniform 0-15 Seconds deciding which counter they want to go to before Phase 1 and Phase 2 (Decision making)</a:t>
            </a:r>
            <a:endParaRPr lang="en-SG" sz="1400" dirty="0"/>
          </a:p>
          <a:p>
            <a:pPr marL="228600" lvl="0" indent="-228600">
              <a:buFont typeface="+mj-lt"/>
              <a:buAutoNum type="arabicPeriod"/>
            </a:pPr>
            <a:r>
              <a:rPr lang="en-US" sz="1400" dirty="0"/>
              <a:t>If a </a:t>
            </a:r>
            <a:r>
              <a:rPr lang="en-US" sz="1400" dirty="0" err="1"/>
              <a:t>traveller</a:t>
            </a:r>
            <a:r>
              <a:rPr lang="en-US" sz="1400" dirty="0"/>
              <a:t> fails the passport check, they will be sent to a referral counter to go through another check to decide if they are allowed to enter the country.</a:t>
            </a:r>
            <a:endParaRPr lang="en-SG" sz="1400" dirty="0"/>
          </a:p>
          <a:p>
            <a:pPr marL="228600" lvl="0" indent="-228600">
              <a:buFont typeface="+mj-lt"/>
              <a:buAutoNum type="arabicPeriod"/>
            </a:pPr>
            <a:r>
              <a:rPr lang="en-US" sz="1400" dirty="0"/>
              <a:t>All checks use a base triangular distribution and will have a multiplier added to this time depending on their risk profile and or Document readiness</a:t>
            </a:r>
            <a:endParaRPr lang="en-SG" sz="1400" dirty="0"/>
          </a:p>
          <a:p>
            <a:pPr marL="228600" lvl="0" indent="-228600">
              <a:buFont typeface="+mj-lt"/>
              <a:buAutoNum type="arabicPeriod"/>
            </a:pPr>
            <a:r>
              <a:rPr lang="en-US" sz="1400" dirty="0"/>
              <a:t>When a </a:t>
            </a:r>
            <a:r>
              <a:rPr lang="en-US" sz="1400" dirty="0" err="1"/>
              <a:t>traveller</a:t>
            </a:r>
            <a:r>
              <a:rPr lang="en-US" sz="1400" dirty="0"/>
              <a:t> is going through referral, they have a 50% chance of failing and being sent back.</a:t>
            </a:r>
            <a:endParaRPr lang="en-SG" sz="1400" dirty="0"/>
          </a:p>
          <a:p>
            <a:pPr marL="228600" lvl="0" indent="-228600">
              <a:buFont typeface="+mj-lt"/>
              <a:buAutoNum type="arabicPeriod"/>
            </a:pPr>
            <a:r>
              <a:rPr lang="en-US" sz="1400" dirty="0"/>
              <a:t>All checks are done 1 </a:t>
            </a:r>
            <a:r>
              <a:rPr lang="en-US" sz="1400" dirty="0" err="1"/>
              <a:t>traveller</a:t>
            </a:r>
            <a:r>
              <a:rPr lang="en-US" sz="1400" dirty="0"/>
              <a:t> at a time. There is no group entry here.</a:t>
            </a:r>
            <a:endParaRPr lang="en-SG" sz="1400" dirty="0"/>
          </a:p>
          <a:p>
            <a:pPr marL="228600" lvl="0" indent="-228600">
              <a:buFont typeface="+mj-lt"/>
              <a:buAutoNum type="arabicPeriod"/>
            </a:pPr>
            <a:r>
              <a:rPr lang="en-US" sz="1400" dirty="0"/>
              <a:t>1 Hour simulation is used on both setups.</a:t>
            </a:r>
            <a:endParaRPr lang="en-SG" sz="1400" dirty="0"/>
          </a:p>
        </p:txBody>
      </p:sp>
    </p:spTree>
    <p:extLst>
      <p:ext uri="{BB962C8B-B14F-4D97-AF65-F5344CB8AC3E}">
        <p14:creationId xmlns:p14="http://schemas.microsoft.com/office/powerpoint/2010/main" val="3635113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D933A-6B26-179E-38B2-650B0B821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5E25F-32EC-941E-A743-D443E0FFC682}"/>
              </a:ext>
            </a:extLst>
          </p:cNvPr>
          <p:cNvSpPr>
            <a:spLocks noGrp="1"/>
          </p:cNvSpPr>
          <p:nvPr>
            <p:ph type="title"/>
          </p:nvPr>
        </p:nvSpPr>
        <p:spPr>
          <a:xfrm>
            <a:off x="449486" y="365597"/>
            <a:ext cx="5121974" cy="1115874"/>
          </a:xfrm>
        </p:spPr>
        <p:txBody>
          <a:bodyPr anchor="ctr">
            <a:normAutofit/>
          </a:bodyPr>
          <a:lstStyle/>
          <a:p>
            <a:r>
              <a:rPr lang="en-US" sz="3500" dirty="0"/>
              <a:t>Problem</a:t>
            </a:r>
            <a:r>
              <a:rPr lang="en-US" sz="3600" dirty="0"/>
              <a:t> overview</a:t>
            </a:r>
            <a:endParaRPr lang="en-SG" sz="3600" dirty="0"/>
          </a:p>
        </p:txBody>
      </p:sp>
      <p:sp>
        <p:nvSpPr>
          <p:cNvPr id="4" name="TextBox 3">
            <a:extLst>
              <a:ext uri="{FF2B5EF4-FFF2-40B4-BE49-F238E27FC236}">
                <a16:creationId xmlns:a16="http://schemas.microsoft.com/office/drawing/2014/main" id="{53FABA20-2410-E4D1-907F-D8863F3A598F}"/>
              </a:ext>
            </a:extLst>
          </p:cNvPr>
          <p:cNvSpPr txBox="1"/>
          <p:nvPr/>
        </p:nvSpPr>
        <p:spPr>
          <a:xfrm>
            <a:off x="581247" y="1566530"/>
            <a:ext cx="8584018" cy="646331"/>
          </a:xfrm>
          <a:prstGeom prst="rect">
            <a:avLst/>
          </a:prstGeom>
          <a:noFill/>
        </p:spPr>
        <p:txBody>
          <a:bodyPr wrap="square" rtlCol="0">
            <a:spAutoFit/>
          </a:bodyPr>
          <a:lstStyle/>
          <a:p>
            <a:r>
              <a:rPr lang="en-US" dirty="0"/>
              <a:t>We are trying to use our built simulation to explore and evaluation operational effectiveness of our Simulation setup.</a:t>
            </a:r>
            <a:endParaRPr lang="en-SG" dirty="0"/>
          </a:p>
        </p:txBody>
      </p:sp>
      <p:pic>
        <p:nvPicPr>
          <p:cNvPr id="5" name="Picture 4" descr="A drawing of a machine&#10;&#10;AI-generated content may be incorrect.">
            <a:extLst>
              <a:ext uri="{FF2B5EF4-FFF2-40B4-BE49-F238E27FC236}">
                <a16:creationId xmlns:a16="http://schemas.microsoft.com/office/drawing/2014/main" id="{0B6A7816-E0F8-40A4-09D4-B017B456F164}"/>
              </a:ext>
            </a:extLst>
          </p:cNvPr>
          <p:cNvPicPr>
            <a:picLocks noChangeAspect="1"/>
          </p:cNvPicPr>
          <p:nvPr/>
        </p:nvPicPr>
        <p:blipFill>
          <a:blip r:embed="rId2"/>
          <a:stretch>
            <a:fillRect/>
          </a:stretch>
        </p:blipFill>
        <p:spPr>
          <a:xfrm>
            <a:off x="449486" y="2530341"/>
            <a:ext cx="4046558" cy="3839881"/>
          </a:xfrm>
          <a:prstGeom prst="rect">
            <a:avLst/>
          </a:prstGeom>
        </p:spPr>
      </p:pic>
      <p:sp>
        <p:nvSpPr>
          <p:cNvPr id="6" name="Speech Bubble: Rectangle 5">
            <a:extLst>
              <a:ext uri="{FF2B5EF4-FFF2-40B4-BE49-F238E27FC236}">
                <a16:creationId xmlns:a16="http://schemas.microsoft.com/office/drawing/2014/main" id="{DAA79DDF-DD18-DB33-4A83-E30A95BA763E}"/>
              </a:ext>
            </a:extLst>
          </p:cNvPr>
          <p:cNvSpPr/>
          <p:nvPr/>
        </p:nvSpPr>
        <p:spPr>
          <a:xfrm>
            <a:off x="2930118" y="2605054"/>
            <a:ext cx="1943138" cy="823946"/>
          </a:xfrm>
          <a:prstGeom prst="wedgeRectCallout">
            <a:avLst>
              <a:gd name="adj1" fmla="val -57277"/>
              <a:gd name="adj2" fmla="val 26921"/>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dirty="0"/>
              <a:t>We observe that there is a several bottleneck at the Baggage Security Check Queue</a:t>
            </a:r>
            <a:endParaRPr lang="en-SG" sz="1200" dirty="0"/>
          </a:p>
        </p:txBody>
      </p:sp>
      <p:graphicFrame>
        <p:nvGraphicFramePr>
          <p:cNvPr id="3" name="Table 2">
            <a:extLst>
              <a:ext uri="{FF2B5EF4-FFF2-40B4-BE49-F238E27FC236}">
                <a16:creationId xmlns:a16="http://schemas.microsoft.com/office/drawing/2014/main" id="{F3A6C096-4E49-338B-CFF0-630EF5FB88B3}"/>
              </a:ext>
            </a:extLst>
          </p:cNvPr>
          <p:cNvGraphicFramePr>
            <a:graphicFrameLocks noGrp="1"/>
          </p:cNvGraphicFramePr>
          <p:nvPr>
            <p:extLst>
              <p:ext uri="{D42A27DB-BD31-4B8C-83A1-F6EECF244321}">
                <p14:modId xmlns:p14="http://schemas.microsoft.com/office/powerpoint/2010/main" val="3435957653"/>
              </p:ext>
            </p:extLst>
          </p:nvPr>
        </p:nvGraphicFramePr>
        <p:xfrm>
          <a:off x="4939322" y="2503400"/>
          <a:ext cx="7168858" cy="3679997"/>
        </p:xfrm>
        <a:graphic>
          <a:graphicData uri="http://schemas.openxmlformats.org/drawingml/2006/table">
            <a:tbl>
              <a:tblPr firstRow="1" bandRow="1">
                <a:tableStyleId>{5C22544A-7EE6-4342-B048-85BDC9FD1C3A}</a:tableStyleId>
              </a:tblPr>
              <a:tblGrid>
                <a:gridCol w="3584429">
                  <a:extLst>
                    <a:ext uri="{9D8B030D-6E8A-4147-A177-3AD203B41FA5}">
                      <a16:colId xmlns:a16="http://schemas.microsoft.com/office/drawing/2014/main" val="870364708"/>
                    </a:ext>
                  </a:extLst>
                </a:gridCol>
                <a:gridCol w="3584429">
                  <a:extLst>
                    <a:ext uri="{9D8B030D-6E8A-4147-A177-3AD203B41FA5}">
                      <a16:colId xmlns:a16="http://schemas.microsoft.com/office/drawing/2014/main" val="1252113821"/>
                    </a:ext>
                  </a:extLst>
                </a:gridCol>
              </a:tblGrid>
              <a:tr h="510136">
                <a:tc>
                  <a:txBody>
                    <a:bodyPr/>
                    <a:lstStyle/>
                    <a:p>
                      <a:r>
                        <a:rPr lang="en-US" dirty="0"/>
                        <a:t>Setup 1</a:t>
                      </a:r>
                      <a:endParaRPr lang="en-SG" dirty="0"/>
                    </a:p>
                  </a:txBody>
                  <a:tcPr/>
                </a:tc>
                <a:tc>
                  <a:txBody>
                    <a:bodyPr/>
                    <a:lstStyle/>
                    <a:p>
                      <a:r>
                        <a:rPr lang="en-US" dirty="0"/>
                        <a:t>Setup 2</a:t>
                      </a:r>
                      <a:endParaRPr lang="en-SG" dirty="0"/>
                    </a:p>
                  </a:txBody>
                  <a:tcPr/>
                </a:tc>
                <a:extLst>
                  <a:ext uri="{0D108BD9-81ED-4DB2-BD59-A6C34878D82A}">
                    <a16:rowId xmlns:a16="http://schemas.microsoft.com/office/drawing/2014/main" val="3556661169"/>
                  </a:ext>
                </a:extLst>
              </a:tr>
              <a:tr h="3169861">
                <a:tc>
                  <a:txBody>
                    <a:bodyPr/>
                    <a:lstStyle/>
                    <a:p>
                      <a:endParaRPr lang="en-SG" dirty="0"/>
                    </a:p>
                  </a:txBody>
                  <a:tcPr/>
                </a:tc>
                <a:tc>
                  <a:txBody>
                    <a:bodyPr/>
                    <a:lstStyle/>
                    <a:p>
                      <a:endParaRPr lang="en-SG" dirty="0"/>
                    </a:p>
                  </a:txBody>
                  <a:tcPr/>
                </a:tc>
                <a:extLst>
                  <a:ext uri="{0D108BD9-81ED-4DB2-BD59-A6C34878D82A}">
                    <a16:rowId xmlns:a16="http://schemas.microsoft.com/office/drawing/2014/main" val="3587407268"/>
                  </a:ext>
                </a:extLst>
              </a:tr>
            </a:tbl>
          </a:graphicData>
        </a:graphic>
      </p:graphicFrame>
      <p:pic>
        <p:nvPicPr>
          <p:cNvPr id="8" name="Picture 7">
            <a:extLst>
              <a:ext uri="{FF2B5EF4-FFF2-40B4-BE49-F238E27FC236}">
                <a16:creationId xmlns:a16="http://schemas.microsoft.com/office/drawing/2014/main" id="{F1D8E4C8-C2DE-336A-3136-189E19927633}"/>
              </a:ext>
            </a:extLst>
          </p:cNvPr>
          <p:cNvPicPr>
            <a:picLocks noChangeAspect="1"/>
          </p:cNvPicPr>
          <p:nvPr/>
        </p:nvPicPr>
        <p:blipFill>
          <a:blip r:embed="rId3"/>
          <a:stretch>
            <a:fillRect/>
          </a:stretch>
        </p:blipFill>
        <p:spPr>
          <a:xfrm>
            <a:off x="5009180" y="3389996"/>
            <a:ext cx="3461231" cy="2515504"/>
          </a:xfrm>
          <a:prstGeom prst="rect">
            <a:avLst/>
          </a:prstGeom>
        </p:spPr>
      </p:pic>
      <p:pic>
        <p:nvPicPr>
          <p:cNvPr id="10" name="Picture 9">
            <a:extLst>
              <a:ext uri="{FF2B5EF4-FFF2-40B4-BE49-F238E27FC236}">
                <a16:creationId xmlns:a16="http://schemas.microsoft.com/office/drawing/2014/main" id="{5743E942-66AA-2503-143E-5FF66F924C5B}"/>
              </a:ext>
            </a:extLst>
          </p:cNvPr>
          <p:cNvPicPr>
            <a:picLocks noChangeAspect="1"/>
          </p:cNvPicPr>
          <p:nvPr/>
        </p:nvPicPr>
        <p:blipFill>
          <a:blip r:embed="rId4"/>
          <a:stretch>
            <a:fillRect/>
          </a:stretch>
        </p:blipFill>
        <p:spPr>
          <a:xfrm>
            <a:off x="8562107" y="3429000"/>
            <a:ext cx="3520307" cy="2437496"/>
          </a:xfrm>
          <a:prstGeom prst="rect">
            <a:avLst/>
          </a:prstGeom>
        </p:spPr>
      </p:pic>
      <p:sp>
        <p:nvSpPr>
          <p:cNvPr id="11" name="TextBox 10">
            <a:extLst>
              <a:ext uri="{FF2B5EF4-FFF2-40B4-BE49-F238E27FC236}">
                <a16:creationId xmlns:a16="http://schemas.microsoft.com/office/drawing/2014/main" id="{AA67E51A-98E0-4BA3-7EA4-61C40AA55CC2}"/>
              </a:ext>
            </a:extLst>
          </p:cNvPr>
          <p:cNvSpPr txBox="1"/>
          <p:nvPr/>
        </p:nvSpPr>
        <p:spPr>
          <a:xfrm>
            <a:off x="9025619" y="1299188"/>
            <a:ext cx="2454815" cy="1169551"/>
          </a:xfrm>
          <a:prstGeom prst="rect">
            <a:avLst/>
          </a:prstGeom>
          <a:solidFill>
            <a:schemeClr val="bg2">
              <a:lumMod val="75000"/>
            </a:schemeClr>
          </a:solidFill>
        </p:spPr>
        <p:txBody>
          <a:bodyPr wrap="square" rtlCol="0">
            <a:spAutoFit/>
          </a:bodyPr>
          <a:lstStyle/>
          <a:p>
            <a:r>
              <a:rPr lang="en-US" sz="1400" dirty="0"/>
              <a:t>We Swapped the Serpentine queue line to 8 separate lines for each counter to see if this fixes our bottleneck</a:t>
            </a:r>
            <a:endParaRPr lang="en-SG" sz="1400" dirty="0"/>
          </a:p>
        </p:txBody>
      </p:sp>
    </p:spTree>
    <p:extLst>
      <p:ext uri="{BB962C8B-B14F-4D97-AF65-F5344CB8AC3E}">
        <p14:creationId xmlns:p14="http://schemas.microsoft.com/office/powerpoint/2010/main" val="2009857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4488-1E0D-3FC9-87FD-CE87F2424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44275-0150-4150-C140-E555DB581DD3}"/>
              </a:ext>
            </a:extLst>
          </p:cNvPr>
          <p:cNvSpPr>
            <a:spLocks noGrp="1"/>
          </p:cNvSpPr>
          <p:nvPr>
            <p:ph type="title"/>
          </p:nvPr>
        </p:nvSpPr>
        <p:spPr>
          <a:xfrm>
            <a:off x="111555" y="125221"/>
            <a:ext cx="9734810" cy="565689"/>
          </a:xfrm>
        </p:spPr>
        <p:txBody>
          <a:bodyPr anchor="ctr">
            <a:normAutofit fontScale="90000"/>
          </a:bodyPr>
          <a:lstStyle/>
          <a:p>
            <a:r>
              <a:rPr lang="en-US" sz="3600" dirty="0"/>
              <a:t>Comparison result of setup 1 vs setup 2</a:t>
            </a:r>
            <a:endParaRPr lang="en-SG" sz="3600" dirty="0"/>
          </a:p>
        </p:txBody>
      </p:sp>
      <p:graphicFrame>
        <p:nvGraphicFramePr>
          <p:cNvPr id="5" name="Table 4">
            <a:extLst>
              <a:ext uri="{FF2B5EF4-FFF2-40B4-BE49-F238E27FC236}">
                <a16:creationId xmlns:a16="http://schemas.microsoft.com/office/drawing/2014/main" id="{E76F3969-8D7A-8452-E2C1-A2D2D45E17E5}"/>
              </a:ext>
            </a:extLst>
          </p:cNvPr>
          <p:cNvGraphicFramePr>
            <a:graphicFrameLocks noGrp="1"/>
          </p:cNvGraphicFramePr>
          <p:nvPr>
            <p:extLst>
              <p:ext uri="{D42A27DB-BD31-4B8C-83A1-F6EECF244321}">
                <p14:modId xmlns:p14="http://schemas.microsoft.com/office/powerpoint/2010/main" val="588150899"/>
              </p:ext>
            </p:extLst>
          </p:nvPr>
        </p:nvGraphicFramePr>
        <p:xfrm>
          <a:off x="217574" y="1243126"/>
          <a:ext cx="5706150" cy="4063140"/>
        </p:xfrm>
        <a:graphic>
          <a:graphicData uri="http://schemas.openxmlformats.org/drawingml/2006/table">
            <a:tbl>
              <a:tblPr firstRow="1" bandRow="1">
                <a:tableStyleId>{5C22544A-7EE6-4342-B048-85BDC9FD1C3A}</a:tableStyleId>
              </a:tblPr>
              <a:tblGrid>
                <a:gridCol w="2853075">
                  <a:extLst>
                    <a:ext uri="{9D8B030D-6E8A-4147-A177-3AD203B41FA5}">
                      <a16:colId xmlns:a16="http://schemas.microsoft.com/office/drawing/2014/main" val="4168438621"/>
                    </a:ext>
                  </a:extLst>
                </a:gridCol>
                <a:gridCol w="2853075">
                  <a:extLst>
                    <a:ext uri="{9D8B030D-6E8A-4147-A177-3AD203B41FA5}">
                      <a16:colId xmlns:a16="http://schemas.microsoft.com/office/drawing/2014/main" val="785116091"/>
                    </a:ext>
                  </a:extLst>
                </a:gridCol>
              </a:tblGrid>
              <a:tr h="433274">
                <a:tc>
                  <a:txBody>
                    <a:bodyPr/>
                    <a:lstStyle/>
                    <a:p>
                      <a:r>
                        <a:rPr lang="en-US" dirty="0"/>
                        <a:t>Setup 1</a:t>
                      </a:r>
                      <a:endParaRPr lang="en-SG" dirty="0"/>
                    </a:p>
                  </a:txBody>
                  <a:tcPr/>
                </a:tc>
                <a:tc>
                  <a:txBody>
                    <a:bodyPr/>
                    <a:lstStyle/>
                    <a:p>
                      <a:r>
                        <a:rPr lang="en-US" dirty="0"/>
                        <a:t>Setup 2</a:t>
                      </a:r>
                      <a:endParaRPr lang="en-SG" dirty="0"/>
                    </a:p>
                  </a:txBody>
                  <a:tcPr/>
                </a:tc>
                <a:extLst>
                  <a:ext uri="{0D108BD9-81ED-4DB2-BD59-A6C34878D82A}">
                    <a16:rowId xmlns:a16="http://schemas.microsoft.com/office/drawing/2014/main" val="1741707125"/>
                  </a:ext>
                </a:extLst>
              </a:tr>
              <a:tr h="3629866">
                <a:tc>
                  <a:txBody>
                    <a:bodyPr/>
                    <a:lstStyle/>
                    <a:p>
                      <a:endParaRPr lang="en-SG"/>
                    </a:p>
                  </a:txBody>
                  <a:tcPr/>
                </a:tc>
                <a:tc>
                  <a:txBody>
                    <a:bodyPr/>
                    <a:lstStyle/>
                    <a:p>
                      <a:endParaRPr lang="en-SG" dirty="0"/>
                    </a:p>
                  </a:txBody>
                  <a:tcPr/>
                </a:tc>
                <a:extLst>
                  <a:ext uri="{0D108BD9-81ED-4DB2-BD59-A6C34878D82A}">
                    <a16:rowId xmlns:a16="http://schemas.microsoft.com/office/drawing/2014/main" val="3615744876"/>
                  </a:ext>
                </a:extLst>
              </a:tr>
            </a:tbl>
          </a:graphicData>
        </a:graphic>
      </p:graphicFrame>
      <p:sp>
        <p:nvSpPr>
          <p:cNvPr id="6" name="TextBox 5">
            <a:extLst>
              <a:ext uri="{FF2B5EF4-FFF2-40B4-BE49-F238E27FC236}">
                <a16:creationId xmlns:a16="http://schemas.microsoft.com/office/drawing/2014/main" id="{2420D4FF-AEA7-057C-3A2B-2F9280D7FA46}"/>
              </a:ext>
            </a:extLst>
          </p:cNvPr>
          <p:cNvSpPr txBox="1"/>
          <p:nvPr/>
        </p:nvSpPr>
        <p:spPr>
          <a:xfrm>
            <a:off x="217574" y="826990"/>
            <a:ext cx="3426775" cy="369332"/>
          </a:xfrm>
          <a:prstGeom prst="rect">
            <a:avLst/>
          </a:prstGeom>
          <a:noFill/>
        </p:spPr>
        <p:txBody>
          <a:bodyPr wrap="square" rtlCol="0">
            <a:spAutoFit/>
          </a:bodyPr>
          <a:lstStyle/>
          <a:p>
            <a:r>
              <a:rPr lang="en-US" dirty="0"/>
              <a:t>Queue Length Comparison</a:t>
            </a:r>
            <a:endParaRPr lang="en-SG" dirty="0"/>
          </a:p>
        </p:txBody>
      </p:sp>
      <p:pic>
        <p:nvPicPr>
          <p:cNvPr id="7" name="Picture 6" descr="A graph with numbers and a line&#10;&#10;AI-generated content may be incorrect.">
            <a:extLst>
              <a:ext uri="{FF2B5EF4-FFF2-40B4-BE49-F238E27FC236}">
                <a16:creationId xmlns:a16="http://schemas.microsoft.com/office/drawing/2014/main" id="{6E541D1D-F13B-8467-BBA3-F76109022F52}"/>
              </a:ext>
            </a:extLst>
          </p:cNvPr>
          <p:cNvPicPr>
            <a:picLocks noChangeAspect="1"/>
          </p:cNvPicPr>
          <p:nvPr/>
        </p:nvPicPr>
        <p:blipFill>
          <a:blip r:embed="rId2"/>
          <a:stretch>
            <a:fillRect/>
          </a:stretch>
        </p:blipFill>
        <p:spPr>
          <a:xfrm>
            <a:off x="668255" y="1762442"/>
            <a:ext cx="2326737" cy="3431860"/>
          </a:xfrm>
          <a:prstGeom prst="rect">
            <a:avLst/>
          </a:prstGeom>
        </p:spPr>
      </p:pic>
      <p:pic>
        <p:nvPicPr>
          <p:cNvPr id="8" name="Picture 7" descr="A graph with blue and orange lines&#10;&#10;AI-generated content may be incorrect.">
            <a:extLst>
              <a:ext uri="{FF2B5EF4-FFF2-40B4-BE49-F238E27FC236}">
                <a16:creationId xmlns:a16="http://schemas.microsoft.com/office/drawing/2014/main" id="{FEEF76C0-E1F6-9174-FF90-209F7FF4A76A}"/>
              </a:ext>
            </a:extLst>
          </p:cNvPr>
          <p:cNvPicPr>
            <a:picLocks noChangeAspect="1"/>
          </p:cNvPicPr>
          <p:nvPr/>
        </p:nvPicPr>
        <p:blipFill>
          <a:blip r:embed="rId3"/>
          <a:stretch>
            <a:fillRect/>
          </a:stretch>
        </p:blipFill>
        <p:spPr>
          <a:xfrm>
            <a:off x="3538744" y="1762442"/>
            <a:ext cx="2245829" cy="3408738"/>
          </a:xfrm>
          <a:prstGeom prst="rect">
            <a:avLst/>
          </a:prstGeom>
        </p:spPr>
      </p:pic>
      <p:graphicFrame>
        <p:nvGraphicFramePr>
          <p:cNvPr id="9" name="Table 8">
            <a:extLst>
              <a:ext uri="{FF2B5EF4-FFF2-40B4-BE49-F238E27FC236}">
                <a16:creationId xmlns:a16="http://schemas.microsoft.com/office/drawing/2014/main" id="{186D95E3-4E93-FB32-CCB1-0AD4876EBDEB}"/>
              </a:ext>
            </a:extLst>
          </p:cNvPr>
          <p:cNvGraphicFramePr>
            <a:graphicFrameLocks noGrp="1"/>
          </p:cNvGraphicFramePr>
          <p:nvPr>
            <p:extLst>
              <p:ext uri="{D42A27DB-BD31-4B8C-83A1-F6EECF244321}">
                <p14:modId xmlns:p14="http://schemas.microsoft.com/office/powerpoint/2010/main" val="4058152197"/>
              </p:ext>
            </p:extLst>
          </p:nvPr>
        </p:nvGraphicFramePr>
        <p:xfrm>
          <a:off x="6328325" y="1243126"/>
          <a:ext cx="5706150" cy="4063140"/>
        </p:xfrm>
        <a:graphic>
          <a:graphicData uri="http://schemas.openxmlformats.org/drawingml/2006/table">
            <a:tbl>
              <a:tblPr firstRow="1" bandRow="1">
                <a:tableStyleId>{5C22544A-7EE6-4342-B048-85BDC9FD1C3A}</a:tableStyleId>
              </a:tblPr>
              <a:tblGrid>
                <a:gridCol w="2853075">
                  <a:extLst>
                    <a:ext uri="{9D8B030D-6E8A-4147-A177-3AD203B41FA5}">
                      <a16:colId xmlns:a16="http://schemas.microsoft.com/office/drawing/2014/main" val="4168438621"/>
                    </a:ext>
                  </a:extLst>
                </a:gridCol>
                <a:gridCol w="2853075">
                  <a:extLst>
                    <a:ext uri="{9D8B030D-6E8A-4147-A177-3AD203B41FA5}">
                      <a16:colId xmlns:a16="http://schemas.microsoft.com/office/drawing/2014/main" val="785116091"/>
                    </a:ext>
                  </a:extLst>
                </a:gridCol>
              </a:tblGrid>
              <a:tr h="433274">
                <a:tc>
                  <a:txBody>
                    <a:bodyPr/>
                    <a:lstStyle/>
                    <a:p>
                      <a:r>
                        <a:rPr lang="en-US" dirty="0"/>
                        <a:t>Setup 1</a:t>
                      </a:r>
                      <a:endParaRPr lang="en-SG" dirty="0"/>
                    </a:p>
                  </a:txBody>
                  <a:tcPr/>
                </a:tc>
                <a:tc>
                  <a:txBody>
                    <a:bodyPr/>
                    <a:lstStyle/>
                    <a:p>
                      <a:r>
                        <a:rPr lang="en-US" dirty="0"/>
                        <a:t>Setup 2</a:t>
                      </a:r>
                      <a:endParaRPr lang="en-SG" dirty="0"/>
                    </a:p>
                  </a:txBody>
                  <a:tcPr/>
                </a:tc>
                <a:extLst>
                  <a:ext uri="{0D108BD9-81ED-4DB2-BD59-A6C34878D82A}">
                    <a16:rowId xmlns:a16="http://schemas.microsoft.com/office/drawing/2014/main" val="1741707125"/>
                  </a:ext>
                </a:extLst>
              </a:tr>
              <a:tr h="3629866">
                <a:tc>
                  <a:txBody>
                    <a:bodyPr/>
                    <a:lstStyle/>
                    <a:p>
                      <a:endParaRPr lang="en-SG"/>
                    </a:p>
                  </a:txBody>
                  <a:tcPr/>
                </a:tc>
                <a:tc>
                  <a:txBody>
                    <a:bodyPr/>
                    <a:lstStyle/>
                    <a:p>
                      <a:endParaRPr lang="en-SG" dirty="0"/>
                    </a:p>
                  </a:txBody>
                  <a:tcPr/>
                </a:tc>
                <a:extLst>
                  <a:ext uri="{0D108BD9-81ED-4DB2-BD59-A6C34878D82A}">
                    <a16:rowId xmlns:a16="http://schemas.microsoft.com/office/drawing/2014/main" val="3615744876"/>
                  </a:ext>
                </a:extLst>
              </a:tr>
            </a:tbl>
          </a:graphicData>
        </a:graphic>
      </p:graphicFrame>
      <p:sp>
        <p:nvSpPr>
          <p:cNvPr id="10" name="TextBox 9">
            <a:extLst>
              <a:ext uri="{FF2B5EF4-FFF2-40B4-BE49-F238E27FC236}">
                <a16:creationId xmlns:a16="http://schemas.microsoft.com/office/drawing/2014/main" id="{09373FAB-3A0B-F2AE-86CA-A3FFCBE3ABDB}"/>
              </a:ext>
            </a:extLst>
          </p:cNvPr>
          <p:cNvSpPr txBox="1"/>
          <p:nvPr/>
        </p:nvSpPr>
        <p:spPr>
          <a:xfrm>
            <a:off x="6328325" y="847062"/>
            <a:ext cx="4604719" cy="369332"/>
          </a:xfrm>
          <a:prstGeom prst="rect">
            <a:avLst/>
          </a:prstGeom>
          <a:noFill/>
        </p:spPr>
        <p:txBody>
          <a:bodyPr wrap="square" rtlCol="0">
            <a:spAutoFit/>
          </a:bodyPr>
          <a:lstStyle/>
          <a:p>
            <a:r>
              <a:rPr lang="en-US" dirty="0"/>
              <a:t>Average time in Checkpoint Analysis</a:t>
            </a:r>
            <a:endParaRPr lang="en-SG" dirty="0"/>
          </a:p>
        </p:txBody>
      </p:sp>
      <p:sp>
        <p:nvSpPr>
          <p:cNvPr id="11" name="TextBox 10">
            <a:extLst>
              <a:ext uri="{FF2B5EF4-FFF2-40B4-BE49-F238E27FC236}">
                <a16:creationId xmlns:a16="http://schemas.microsoft.com/office/drawing/2014/main" id="{6A2EAEC5-FEE5-9DDC-0405-00F8F386C287}"/>
              </a:ext>
            </a:extLst>
          </p:cNvPr>
          <p:cNvSpPr txBox="1"/>
          <p:nvPr/>
        </p:nvSpPr>
        <p:spPr>
          <a:xfrm>
            <a:off x="217574" y="5426765"/>
            <a:ext cx="5706150" cy="523220"/>
          </a:xfrm>
          <a:prstGeom prst="rect">
            <a:avLst/>
          </a:prstGeom>
          <a:solidFill>
            <a:schemeClr val="bg2">
              <a:lumMod val="75000"/>
            </a:schemeClr>
          </a:solidFill>
        </p:spPr>
        <p:txBody>
          <a:bodyPr wrap="square" rtlCol="0">
            <a:spAutoFit/>
          </a:bodyPr>
          <a:lstStyle/>
          <a:p>
            <a:r>
              <a:rPr lang="en-US" sz="1400" dirty="0"/>
              <a:t>We immediately see significant improvements for pedestrian flow. Dropping the average queue size from 281 to 18.</a:t>
            </a:r>
            <a:endParaRPr lang="en-SG" sz="1400" dirty="0"/>
          </a:p>
        </p:txBody>
      </p:sp>
      <p:pic>
        <p:nvPicPr>
          <p:cNvPr id="12" name="Picture 11">
            <a:extLst>
              <a:ext uri="{FF2B5EF4-FFF2-40B4-BE49-F238E27FC236}">
                <a16:creationId xmlns:a16="http://schemas.microsoft.com/office/drawing/2014/main" id="{7F0EF56F-3AD9-D5DA-D8DB-D25C78FF5557}"/>
              </a:ext>
            </a:extLst>
          </p:cNvPr>
          <p:cNvPicPr>
            <a:picLocks noChangeAspect="1"/>
          </p:cNvPicPr>
          <p:nvPr/>
        </p:nvPicPr>
        <p:blipFill>
          <a:blip r:embed="rId4"/>
          <a:stretch>
            <a:fillRect/>
          </a:stretch>
        </p:blipFill>
        <p:spPr>
          <a:xfrm>
            <a:off x="6448009" y="1762441"/>
            <a:ext cx="2338183" cy="3416267"/>
          </a:xfrm>
          <a:prstGeom prst="rect">
            <a:avLst/>
          </a:prstGeom>
        </p:spPr>
      </p:pic>
      <p:pic>
        <p:nvPicPr>
          <p:cNvPr id="13" name="Picture 12">
            <a:extLst>
              <a:ext uri="{FF2B5EF4-FFF2-40B4-BE49-F238E27FC236}">
                <a16:creationId xmlns:a16="http://schemas.microsoft.com/office/drawing/2014/main" id="{30A4F045-2C3B-0539-6167-1C655A75EE27}"/>
              </a:ext>
            </a:extLst>
          </p:cNvPr>
          <p:cNvPicPr>
            <a:picLocks noChangeAspect="1"/>
          </p:cNvPicPr>
          <p:nvPr/>
        </p:nvPicPr>
        <p:blipFill>
          <a:blip r:embed="rId5"/>
          <a:stretch>
            <a:fillRect/>
          </a:stretch>
        </p:blipFill>
        <p:spPr>
          <a:xfrm>
            <a:off x="9355344" y="1762440"/>
            <a:ext cx="2338183" cy="3481787"/>
          </a:xfrm>
          <a:prstGeom prst="rect">
            <a:avLst/>
          </a:prstGeom>
        </p:spPr>
      </p:pic>
      <p:sp>
        <p:nvSpPr>
          <p:cNvPr id="14" name="TextBox 13">
            <a:extLst>
              <a:ext uri="{FF2B5EF4-FFF2-40B4-BE49-F238E27FC236}">
                <a16:creationId xmlns:a16="http://schemas.microsoft.com/office/drawing/2014/main" id="{0250FA04-26BE-7D6A-F084-443DF313AFC6}"/>
              </a:ext>
            </a:extLst>
          </p:cNvPr>
          <p:cNvSpPr txBox="1"/>
          <p:nvPr/>
        </p:nvSpPr>
        <p:spPr>
          <a:xfrm>
            <a:off x="6328325" y="5436413"/>
            <a:ext cx="5706150" cy="1384995"/>
          </a:xfrm>
          <a:prstGeom prst="rect">
            <a:avLst/>
          </a:prstGeom>
          <a:solidFill>
            <a:schemeClr val="bg2">
              <a:lumMod val="75000"/>
            </a:schemeClr>
          </a:solidFill>
        </p:spPr>
        <p:txBody>
          <a:bodyPr wrap="square" rtlCol="0">
            <a:spAutoFit/>
          </a:bodyPr>
          <a:lstStyle/>
          <a:p>
            <a:r>
              <a:rPr lang="en-US" sz="1400" dirty="0"/>
              <a:t>We also notice a considerable drop in the average time spent in phase 1. A more uniform average time spent rather than an increasing one due to the previous bottleneck. Average overall Time spent also improves with it peaking at 10min rather than 16min. However, we also observe that Phase 2’s performance dropped due to more </a:t>
            </a:r>
            <a:r>
              <a:rPr lang="en-US" sz="1400" dirty="0" err="1"/>
              <a:t>travellers</a:t>
            </a:r>
            <a:r>
              <a:rPr lang="en-US" sz="1400" dirty="0"/>
              <a:t> making it through phase 1.</a:t>
            </a:r>
            <a:endParaRPr lang="en-SG" sz="1400" dirty="0"/>
          </a:p>
        </p:txBody>
      </p:sp>
    </p:spTree>
    <p:extLst>
      <p:ext uri="{BB962C8B-B14F-4D97-AF65-F5344CB8AC3E}">
        <p14:creationId xmlns:p14="http://schemas.microsoft.com/office/powerpoint/2010/main" val="1275725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9BE71-C491-D157-8E3C-D232D6CD4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7204E-6639-B8FE-F016-FFEAF9F62F18}"/>
              </a:ext>
            </a:extLst>
          </p:cNvPr>
          <p:cNvSpPr>
            <a:spLocks noGrp="1"/>
          </p:cNvSpPr>
          <p:nvPr>
            <p:ph type="title"/>
          </p:nvPr>
        </p:nvSpPr>
        <p:spPr>
          <a:xfrm>
            <a:off x="111555" y="125221"/>
            <a:ext cx="9734810" cy="565689"/>
          </a:xfrm>
        </p:spPr>
        <p:txBody>
          <a:bodyPr anchor="ctr">
            <a:normAutofit fontScale="90000"/>
          </a:bodyPr>
          <a:lstStyle/>
          <a:p>
            <a:r>
              <a:rPr lang="en-US" sz="3600" dirty="0"/>
              <a:t>Comparison result of setup 1 vs setup 2</a:t>
            </a:r>
            <a:endParaRPr lang="en-SG" sz="3600" dirty="0"/>
          </a:p>
        </p:txBody>
      </p:sp>
      <p:graphicFrame>
        <p:nvGraphicFramePr>
          <p:cNvPr id="5" name="Table 4">
            <a:extLst>
              <a:ext uri="{FF2B5EF4-FFF2-40B4-BE49-F238E27FC236}">
                <a16:creationId xmlns:a16="http://schemas.microsoft.com/office/drawing/2014/main" id="{8617B163-D3FA-B30C-4D2D-AE4B0894B94F}"/>
              </a:ext>
            </a:extLst>
          </p:cNvPr>
          <p:cNvGraphicFramePr>
            <a:graphicFrameLocks noGrp="1"/>
          </p:cNvGraphicFramePr>
          <p:nvPr>
            <p:extLst>
              <p:ext uri="{D42A27DB-BD31-4B8C-83A1-F6EECF244321}">
                <p14:modId xmlns:p14="http://schemas.microsoft.com/office/powerpoint/2010/main" val="809178084"/>
              </p:ext>
            </p:extLst>
          </p:nvPr>
        </p:nvGraphicFramePr>
        <p:xfrm>
          <a:off x="217574" y="1243126"/>
          <a:ext cx="5706150" cy="4334714"/>
        </p:xfrm>
        <a:graphic>
          <a:graphicData uri="http://schemas.openxmlformats.org/drawingml/2006/table">
            <a:tbl>
              <a:tblPr firstRow="1" bandRow="1">
                <a:tableStyleId>{5C22544A-7EE6-4342-B048-85BDC9FD1C3A}</a:tableStyleId>
              </a:tblPr>
              <a:tblGrid>
                <a:gridCol w="2853075">
                  <a:extLst>
                    <a:ext uri="{9D8B030D-6E8A-4147-A177-3AD203B41FA5}">
                      <a16:colId xmlns:a16="http://schemas.microsoft.com/office/drawing/2014/main" val="4168438621"/>
                    </a:ext>
                  </a:extLst>
                </a:gridCol>
                <a:gridCol w="2853075">
                  <a:extLst>
                    <a:ext uri="{9D8B030D-6E8A-4147-A177-3AD203B41FA5}">
                      <a16:colId xmlns:a16="http://schemas.microsoft.com/office/drawing/2014/main" val="785116091"/>
                    </a:ext>
                  </a:extLst>
                </a:gridCol>
              </a:tblGrid>
              <a:tr h="462233">
                <a:tc>
                  <a:txBody>
                    <a:bodyPr/>
                    <a:lstStyle/>
                    <a:p>
                      <a:r>
                        <a:rPr lang="en-US" dirty="0"/>
                        <a:t>Setup 1</a:t>
                      </a:r>
                      <a:endParaRPr lang="en-SG" dirty="0"/>
                    </a:p>
                  </a:txBody>
                  <a:tcPr/>
                </a:tc>
                <a:tc>
                  <a:txBody>
                    <a:bodyPr/>
                    <a:lstStyle/>
                    <a:p>
                      <a:r>
                        <a:rPr lang="en-US" dirty="0"/>
                        <a:t>Setup 2</a:t>
                      </a:r>
                      <a:endParaRPr lang="en-SG" dirty="0"/>
                    </a:p>
                  </a:txBody>
                  <a:tcPr/>
                </a:tc>
                <a:extLst>
                  <a:ext uri="{0D108BD9-81ED-4DB2-BD59-A6C34878D82A}">
                    <a16:rowId xmlns:a16="http://schemas.microsoft.com/office/drawing/2014/main" val="1741707125"/>
                  </a:ext>
                </a:extLst>
              </a:tr>
              <a:tr h="3872481">
                <a:tc>
                  <a:txBody>
                    <a:bodyPr/>
                    <a:lstStyle/>
                    <a:p>
                      <a:endParaRPr lang="en-SG" dirty="0"/>
                    </a:p>
                  </a:txBody>
                  <a:tcPr/>
                </a:tc>
                <a:tc>
                  <a:txBody>
                    <a:bodyPr/>
                    <a:lstStyle/>
                    <a:p>
                      <a:endParaRPr lang="en-SG" dirty="0"/>
                    </a:p>
                  </a:txBody>
                  <a:tcPr/>
                </a:tc>
                <a:extLst>
                  <a:ext uri="{0D108BD9-81ED-4DB2-BD59-A6C34878D82A}">
                    <a16:rowId xmlns:a16="http://schemas.microsoft.com/office/drawing/2014/main" val="3615744876"/>
                  </a:ext>
                </a:extLst>
              </a:tr>
            </a:tbl>
          </a:graphicData>
        </a:graphic>
      </p:graphicFrame>
      <p:sp>
        <p:nvSpPr>
          <p:cNvPr id="6" name="TextBox 5">
            <a:extLst>
              <a:ext uri="{FF2B5EF4-FFF2-40B4-BE49-F238E27FC236}">
                <a16:creationId xmlns:a16="http://schemas.microsoft.com/office/drawing/2014/main" id="{78F354CB-95AC-5809-5730-59C9D8F160F4}"/>
              </a:ext>
            </a:extLst>
          </p:cNvPr>
          <p:cNvSpPr txBox="1"/>
          <p:nvPr/>
        </p:nvSpPr>
        <p:spPr>
          <a:xfrm>
            <a:off x="217574" y="826990"/>
            <a:ext cx="3426775" cy="369332"/>
          </a:xfrm>
          <a:prstGeom prst="rect">
            <a:avLst/>
          </a:prstGeom>
          <a:noFill/>
        </p:spPr>
        <p:txBody>
          <a:bodyPr wrap="square" rtlCol="0">
            <a:spAutoFit/>
          </a:bodyPr>
          <a:lstStyle/>
          <a:p>
            <a:r>
              <a:rPr lang="en-US" dirty="0"/>
              <a:t>Bottleneck Analysis</a:t>
            </a:r>
            <a:endParaRPr lang="en-SG" dirty="0"/>
          </a:p>
        </p:txBody>
      </p:sp>
      <p:sp>
        <p:nvSpPr>
          <p:cNvPr id="10" name="TextBox 9">
            <a:extLst>
              <a:ext uri="{FF2B5EF4-FFF2-40B4-BE49-F238E27FC236}">
                <a16:creationId xmlns:a16="http://schemas.microsoft.com/office/drawing/2014/main" id="{8A1682C7-CAA0-1B71-7CAC-B0CA37BB42A6}"/>
              </a:ext>
            </a:extLst>
          </p:cNvPr>
          <p:cNvSpPr txBox="1"/>
          <p:nvPr/>
        </p:nvSpPr>
        <p:spPr>
          <a:xfrm>
            <a:off x="6328325" y="847062"/>
            <a:ext cx="4604719" cy="369332"/>
          </a:xfrm>
          <a:prstGeom prst="rect">
            <a:avLst/>
          </a:prstGeom>
          <a:noFill/>
        </p:spPr>
        <p:txBody>
          <a:bodyPr wrap="square" rtlCol="0">
            <a:spAutoFit/>
          </a:bodyPr>
          <a:lstStyle/>
          <a:p>
            <a:r>
              <a:rPr lang="en-US" dirty="0"/>
              <a:t>Throughput analysis</a:t>
            </a:r>
            <a:endParaRPr lang="en-SG" dirty="0"/>
          </a:p>
        </p:txBody>
      </p:sp>
      <p:sp>
        <p:nvSpPr>
          <p:cNvPr id="11" name="TextBox 10">
            <a:extLst>
              <a:ext uri="{FF2B5EF4-FFF2-40B4-BE49-F238E27FC236}">
                <a16:creationId xmlns:a16="http://schemas.microsoft.com/office/drawing/2014/main" id="{2495AD2A-BC08-28B2-1343-87D4D7DD0807}"/>
              </a:ext>
            </a:extLst>
          </p:cNvPr>
          <p:cNvSpPr txBox="1"/>
          <p:nvPr/>
        </p:nvSpPr>
        <p:spPr>
          <a:xfrm>
            <a:off x="217574" y="5760724"/>
            <a:ext cx="5706150" cy="738664"/>
          </a:xfrm>
          <a:prstGeom prst="rect">
            <a:avLst/>
          </a:prstGeom>
          <a:solidFill>
            <a:schemeClr val="bg2">
              <a:lumMod val="75000"/>
            </a:schemeClr>
          </a:solidFill>
        </p:spPr>
        <p:txBody>
          <a:bodyPr wrap="square" rtlCol="0">
            <a:spAutoFit/>
          </a:bodyPr>
          <a:lstStyle/>
          <a:p>
            <a:r>
              <a:rPr lang="en-US" sz="1400" dirty="0"/>
              <a:t>We now notice that the bottleneck has shifted over to the Manual Passport Counters from the graphical visualization of our simulation and the average time spent comparison.</a:t>
            </a:r>
            <a:endParaRPr lang="en-SG" sz="1400" dirty="0"/>
          </a:p>
        </p:txBody>
      </p:sp>
      <p:pic>
        <p:nvPicPr>
          <p:cNvPr id="3" name="Picture 2">
            <a:extLst>
              <a:ext uri="{FF2B5EF4-FFF2-40B4-BE49-F238E27FC236}">
                <a16:creationId xmlns:a16="http://schemas.microsoft.com/office/drawing/2014/main" id="{DF354A62-931C-51F1-5BE8-406B2FA25D33}"/>
              </a:ext>
            </a:extLst>
          </p:cNvPr>
          <p:cNvPicPr>
            <a:picLocks noChangeAspect="1"/>
          </p:cNvPicPr>
          <p:nvPr/>
        </p:nvPicPr>
        <p:blipFill>
          <a:blip r:embed="rId2"/>
          <a:stretch>
            <a:fillRect/>
          </a:stretch>
        </p:blipFill>
        <p:spPr>
          <a:xfrm>
            <a:off x="321945" y="1748538"/>
            <a:ext cx="2526030" cy="2057400"/>
          </a:xfrm>
          <a:prstGeom prst="rect">
            <a:avLst/>
          </a:prstGeom>
        </p:spPr>
      </p:pic>
      <p:pic>
        <p:nvPicPr>
          <p:cNvPr id="4" name="Picture 3">
            <a:extLst>
              <a:ext uri="{FF2B5EF4-FFF2-40B4-BE49-F238E27FC236}">
                <a16:creationId xmlns:a16="http://schemas.microsoft.com/office/drawing/2014/main" id="{BF16D291-E068-01F8-9B89-D32305E1F7EB}"/>
              </a:ext>
            </a:extLst>
          </p:cNvPr>
          <p:cNvPicPr>
            <a:picLocks noChangeAspect="1"/>
          </p:cNvPicPr>
          <p:nvPr/>
        </p:nvPicPr>
        <p:blipFill>
          <a:blip r:embed="rId3"/>
          <a:stretch>
            <a:fillRect/>
          </a:stretch>
        </p:blipFill>
        <p:spPr>
          <a:xfrm>
            <a:off x="3266662" y="1709168"/>
            <a:ext cx="2238375" cy="2136140"/>
          </a:xfrm>
          <a:prstGeom prst="rect">
            <a:avLst/>
          </a:prstGeom>
        </p:spPr>
      </p:pic>
      <p:pic>
        <p:nvPicPr>
          <p:cNvPr id="15" name="Picture 14">
            <a:extLst>
              <a:ext uri="{FF2B5EF4-FFF2-40B4-BE49-F238E27FC236}">
                <a16:creationId xmlns:a16="http://schemas.microsoft.com/office/drawing/2014/main" id="{5D517E34-8096-9330-56AB-DA4281B4FB5B}"/>
              </a:ext>
            </a:extLst>
          </p:cNvPr>
          <p:cNvPicPr>
            <a:picLocks noChangeAspect="1"/>
          </p:cNvPicPr>
          <p:nvPr/>
        </p:nvPicPr>
        <p:blipFill>
          <a:blip r:embed="rId4"/>
          <a:stretch>
            <a:fillRect/>
          </a:stretch>
        </p:blipFill>
        <p:spPr>
          <a:xfrm>
            <a:off x="321945" y="3965217"/>
            <a:ext cx="2310130" cy="1490345"/>
          </a:xfrm>
          <a:prstGeom prst="rect">
            <a:avLst/>
          </a:prstGeom>
        </p:spPr>
      </p:pic>
      <p:pic>
        <p:nvPicPr>
          <p:cNvPr id="16" name="Picture 15">
            <a:extLst>
              <a:ext uri="{FF2B5EF4-FFF2-40B4-BE49-F238E27FC236}">
                <a16:creationId xmlns:a16="http://schemas.microsoft.com/office/drawing/2014/main" id="{D86C4F47-D961-8AA7-0E09-FE51AED10AEA}"/>
              </a:ext>
            </a:extLst>
          </p:cNvPr>
          <p:cNvPicPr>
            <a:picLocks noChangeAspect="1"/>
          </p:cNvPicPr>
          <p:nvPr/>
        </p:nvPicPr>
        <p:blipFill>
          <a:blip r:embed="rId5"/>
          <a:stretch>
            <a:fillRect/>
          </a:stretch>
        </p:blipFill>
        <p:spPr>
          <a:xfrm>
            <a:off x="3220942" y="4010937"/>
            <a:ext cx="2642235" cy="1414145"/>
          </a:xfrm>
          <a:prstGeom prst="rect">
            <a:avLst/>
          </a:prstGeom>
        </p:spPr>
      </p:pic>
      <p:graphicFrame>
        <p:nvGraphicFramePr>
          <p:cNvPr id="17" name="Table 16">
            <a:extLst>
              <a:ext uri="{FF2B5EF4-FFF2-40B4-BE49-F238E27FC236}">
                <a16:creationId xmlns:a16="http://schemas.microsoft.com/office/drawing/2014/main" id="{F72B9A8E-F766-30C0-4E50-E04A2DF58889}"/>
              </a:ext>
            </a:extLst>
          </p:cNvPr>
          <p:cNvGraphicFramePr>
            <a:graphicFrameLocks noGrp="1"/>
          </p:cNvGraphicFramePr>
          <p:nvPr>
            <p:extLst>
              <p:ext uri="{D42A27DB-BD31-4B8C-83A1-F6EECF244321}">
                <p14:modId xmlns:p14="http://schemas.microsoft.com/office/powerpoint/2010/main" val="476448848"/>
              </p:ext>
            </p:extLst>
          </p:nvPr>
        </p:nvGraphicFramePr>
        <p:xfrm>
          <a:off x="6342411" y="1261643"/>
          <a:ext cx="5706150" cy="3275464"/>
        </p:xfrm>
        <a:graphic>
          <a:graphicData uri="http://schemas.openxmlformats.org/drawingml/2006/table">
            <a:tbl>
              <a:tblPr firstRow="1" bandRow="1">
                <a:tableStyleId>{5C22544A-7EE6-4342-B048-85BDC9FD1C3A}</a:tableStyleId>
              </a:tblPr>
              <a:tblGrid>
                <a:gridCol w="2853075">
                  <a:extLst>
                    <a:ext uri="{9D8B030D-6E8A-4147-A177-3AD203B41FA5}">
                      <a16:colId xmlns:a16="http://schemas.microsoft.com/office/drawing/2014/main" val="4168438621"/>
                    </a:ext>
                  </a:extLst>
                </a:gridCol>
                <a:gridCol w="2853075">
                  <a:extLst>
                    <a:ext uri="{9D8B030D-6E8A-4147-A177-3AD203B41FA5}">
                      <a16:colId xmlns:a16="http://schemas.microsoft.com/office/drawing/2014/main" val="785116091"/>
                    </a:ext>
                  </a:extLst>
                </a:gridCol>
              </a:tblGrid>
              <a:tr h="347313">
                <a:tc>
                  <a:txBody>
                    <a:bodyPr/>
                    <a:lstStyle/>
                    <a:p>
                      <a:r>
                        <a:rPr lang="en-US" dirty="0"/>
                        <a:t>Setup 1</a:t>
                      </a:r>
                      <a:endParaRPr lang="en-SG" dirty="0"/>
                    </a:p>
                  </a:txBody>
                  <a:tcPr/>
                </a:tc>
                <a:tc>
                  <a:txBody>
                    <a:bodyPr/>
                    <a:lstStyle/>
                    <a:p>
                      <a:r>
                        <a:rPr lang="en-US" dirty="0"/>
                        <a:t>Setup 2</a:t>
                      </a:r>
                      <a:endParaRPr lang="en-SG" dirty="0"/>
                    </a:p>
                  </a:txBody>
                  <a:tcPr/>
                </a:tc>
                <a:extLst>
                  <a:ext uri="{0D108BD9-81ED-4DB2-BD59-A6C34878D82A}">
                    <a16:rowId xmlns:a16="http://schemas.microsoft.com/office/drawing/2014/main" val="1741707125"/>
                  </a:ext>
                </a:extLst>
              </a:tr>
              <a:tr h="2909704">
                <a:tc>
                  <a:txBody>
                    <a:bodyPr/>
                    <a:lstStyle/>
                    <a:p>
                      <a:endParaRPr lang="en-SG" dirty="0"/>
                    </a:p>
                  </a:txBody>
                  <a:tcPr/>
                </a:tc>
                <a:tc>
                  <a:txBody>
                    <a:bodyPr/>
                    <a:lstStyle/>
                    <a:p>
                      <a:endParaRPr lang="en-SG" dirty="0"/>
                    </a:p>
                  </a:txBody>
                  <a:tcPr/>
                </a:tc>
                <a:extLst>
                  <a:ext uri="{0D108BD9-81ED-4DB2-BD59-A6C34878D82A}">
                    <a16:rowId xmlns:a16="http://schemas.microsoft.com/office/drawing/2014/main" val="3615744876"/>
                  </a:ext>
                </a:extLst>
              </a:tr>
            </a:tbl>
          </a:graphicData>
        </a:graphic>
      </p:graphicFrame>
      <p:pic>
        <p:nvPicPr>
          <p:cNvPr id="18" name="Picture 17" descr="A graph with green and purple bars&#10;&#10;AI-generated content may be incorrect.">
            <a:extLst>
              <a:ext uri="{FF2B5EF4-FFF2-40B4-BE49-F238E27FC236}">
                <a16:creationId xmlns:a16="http://schemas.microsoft.com/office/drawing/2014/main" id="{D2E24CA9-01B3-977B-0598-575952154AAC}"/>
              </a:ext>
            </a:extLst>
          </p:cNvPr>
          <p:cNvPicPr>
            <a:picLocks noChangeAspect="1"/>
          </p:cNvPicPr>
          <p:nvPr/>
        </p:nvPicPr>
        <p:blipFill>
          <a:blip r:embed="rId6"/>
          <a:stretch>
            <a:fillRect/>
          </a:stretch>
        </p:blipFill>
        <p:spPr>
          <a:xfrm>
            <a:off x="6907294" y="1748538"/>
            <a:ext cx="1723390" cy="2641207"/>
          </a:xfrm>
          <a:prstGeom prst="rect">
            <a:avLst/>
          </a:prstGeom>
        </p:spPr>
      </p:pic>
      <p:pic>
        <p:nvPicPr>
          <p:cNvPr id="19" name="Picture 18" descr="A graph with green and orange bars&#10;&#10;AI-generated content may be incorrect.">
            <a:extLst>
              <a:ext uri="{FF2B5EF4-FFF2-40B4-BE49-F238E27FC236}">
                <a16:creationId xmlns:a16="http://schemas.microsoft.com/office/drawing/2014/main" id="{04149513-04FC-C1FD-8186-7B668F1F9ED9}"/>
              </a:ext>
            </a:extLst>
          </p:cNvPr>
          <p:cNvPicPr>
            <a:picLocks noChangeAspect="1"/>
          </p:cNvPicPr>
          <p:nvPr/>
        </p:nvPicPr>
        <p:blipFill>
          <a:blip r:embed="rId7"/>
          <a:stretch>
            <a:fillRect/>
          </a:stretch>
        </p:blipFill>
        <p:spPr>
          <a:xfrm>
            <a:off x="9650412" y="1748538"/>
            <a:ext cx="1787208" cy="2645963"/>
          </a:xfrm>
          <a:prstGeom prst="rect">
            <a:avLst/>
          </a:prstGeom>
        </p:spPr>
      </p:pic>
      <p:sp>
        <p:nvSpPr>
          <p:cNvPr id="20" name="TextBox 19">
            <a:extLst>
              <a:ext uri="{FF2B5EF4-FFF2-40B4-BE49-F238E27FC236}">
                <a16:creationId xmlns:a16="http://schemas.microsoft.com/office/drawing/2014/main" id="{A794110A-7C76-38D6-3225-39FF35886245}"/>
              </a:ext>
            </a:extLst>
          </p:cNvPr>
          <p:cNvSpPr txBox="1"/>
          <p:nvPr/>
        </p:nvSpPr>
        <p:spPr>
          <a:xfrm>
            <a:off x="6328325" y="4718009"/>
            <a:ext cx="5706150" cy="1169551"/>
          </a:xfrm>
          <a:prstGeom prst="rect">
            <a:avLst/>
          </a:prstGeom>
          <a:solidFill>
            <a:schemeClr val="bg2">
              <a:lumMod val="75000"/>
            </a:schemeClr>
          </a:solidFill>
        </p:spPr>
        <p:txBody>
          <a:bodyPr wrap="square" rtlCol="0">
            <a:spAutoFit/>
          </a:bodyPr>
          <a:lstStyle/>
          <a:p>
            <a:r>
              <a:rPr lang="en-US" sz="1400" dirty="0"/>
              <a:t>Our throughput rate also improves. Increasing phase 1 Throughput by 401 and the overall throughput by 258. Overall Setup 2 performs better than setup 1 by around 30%. This can be further improved by addressing the Manual passport counters bottleneck.</a:t>
            </a:r>
            <a:endParaRPr lang="en-SG" sz="1400" dirty="0"/>
          </a:p>
        </p:txBody>
      </p:sp>
    </p:spTree>
    <p:extLst>
      <p:ext uri="{BB962C8B-B14F-4D97-AF65-F5344CB8AC3E}">
        <p14:creationId xmlns:p14="http://schemas.microsoft.com/office/powerpoint/2010/main" val="3620813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EE2B254-FB16-7D9D-6C9D-3B58025A4185}"/>
              </a:ext>
            </a:extLst>
          </p:cNvPr>
          <p:cNvSpPr>
            <a:spLocks noGrp="1"/>
          </p:cNvSpPr>
          <p:nvPr>
            <p:ph type="title"/>
          </p:nvPr>
        </p:nvSpPr>
        <p:spPr>
          <a:xfrm>
            <a:off x="134414" y="437641"/>
            <a:ext cx="11470845" cy="565689"/>
          </a:xfrm>
        </p:spPr>
        <p:txBody>
          <a:bodyPr anchor="ctr">
            <a:normAutofit fontScale="90000"/>
          </a:bodyPr>
          <a:lstStyle/>
          <a:p>
            <a:r>
              <a:rPr lang="en-US" sz="3600" dirty="0"/>
              <a:t>Recommendations and operational insights</a:t>
            </a:r>
            <a:endParaRPr lang="en-SG" sz="3600" dirty="0"/>
          </a:p>
        </p:txBody>
      </p:sp>
      <p:sp>
        <p:nvSpPr>
          <p:cNvPr id="5" name="TextBox 4">
            <a:extLst>
              <a:ext uri="{FF2B5EF4-FFF2-40B4-BE49-F238E27FC236}">
                <a16:creationId xmlns:a16="http://schemas.microsoft.com/office/drawing/2014/main" id="{1D0FF97D-2CE4-42C6-D778-AA86230A537A}"/>
              </a:ext>
            </a:extLst>
          </p:cNvPr>
          <p:cNvSpPr txBox="1"/>
          <p:nvPr/>
        </p:nvSpPr>
        <p:spPr>
          <a:xfrm>
            <a:off x="274320" y="1219200"/>
            <a:ext cx="7840980" cy="5170646"/>
          </a:xfrm>
          <a:prstGeom prst="rect">
            <a:avLst/>
          </a:prstGeom>
          <a:noFill/>
        </p:spPr>
        <p:txBody>
          <a:bodyPr wrap="square" rtlCol="0">
            <a:spAutoFit/>
          </a:bodyPr>
          <a:lstStyle/>
          <a:p>
            <a:pPr marL="285750" indent="-285750">
              <a:buFont typeface="Arial" panose="020B0604020202020204" pitchFamily="34" charset="0"/>
              <a:buChar char="•"/>
            </a:pPr>
            <a:r>
              <a:rPr lang="en-US" sz="2400" dirty="0"/>
              <a:t>Start to use </a:t>
            </a:r>
            <a:r>
              <a:rPr lang="en-US" sz="2400" dirty="0" err="1"/>
              <a:t>use</a:t>
            </a:r>
            <a:r>
              <a:rPr lang="en-US" sz="2400" dirty="0"/>
              <a:t> Setup 2 as our baseline as it is significantly better than Setup 1.</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SG" sz="2400" dirty="0"/>
              <a:t>As we have identified another bottleneck due to swapping over to Setup 2. We could reduce the amount of auto counters and increase the amount of manual counters. However, this could cause additional staffing requirements.</a:t>
            </a:r>
          </a:p>
          <a:p>
            <a:pPr marL="285750" indent="-285750">
              <a:buFont typeface="Arial" panose="020B0604020202020204" pitchFamily="34" charset="0"/>
              <a:buChar char="•"/>
            </a:pPr>
            <a:endParaRPr lang="en-SG" sz="2400" dirty="0"/>
          </a:p>
          <a:p>
            <a:pPr marL="285750" indent="-285750">
              <a:buFont typeface="Arial" panose="020B0604020202020204" pitchFamily="34" charset="0"/>
              <a:buChar char="•"/>
            </a:pPr>
            <a:r>
              <a:rPr lang="en-SG" sz="2400" dirty="0"/>
              <a:t>Another improvement that we can try is to lower the amount of Counters for baggage Security check which will lower the staffing requirement as well as lower the throughput output for phase 1.</a:t>
            </a:r>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1589147088"/>
      </p:ext>
    </p:extLst>
  </p:cSld>
  <p:clrMapOvr>
    <a:masterClrMapping/>
  </p:clrMapOvr>
</p:sld>
</file>

<file path=ppt/theme/theme1.xml><?xml version="1.0" encoding="utf-8"?>
<a:theme xmlns:a="http://schemas.openxmlformats.org/drawingml/2006/main" name="Slic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0</TotalTime>
  <Words>521</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Century Gothic</vt:lpstr>
      <vt:lpstr>Wingdings 3</vt:lpstr>
      <vt:lpstr>Slice</vt:lpstr>
      <vt:lpstr>PowerPoint Presentation</vt:lpstr>
      <vt:lpstr>Problem overview</vt:lpstr>
      <vt:lpstr>Comparison result of setup 1 vs setup 2</vt:lpstr>
      <vt:lpstr>Comparison result of setup 1 vs setup 2</vt:lpstr>
      <vt:lpstr>Recommendations and operational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Wong, Zackery</dc:creator>
  <cp:lastModifiedBy>Wong, Zackery</cp:lastModifiedBy>
  <cp:revision>2</cp:revision>
  <dcterms:created xsi:type="dcterms:W3CDTF">2026-06-06T09:55:09Z</dcterms:created>
  <dcterms:modified xsi:type="dcterms:W3CDTF">2026-06-06T10:47:44Z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394ae5-69af-439d-af88-cb521c31c0c5_Enabled">
    <vt:lpwstr>true</vt:lpwstr>
  </property>
  <property fmtid="{D5CDD505-2E9C-101B-9397-08002B2CF9AE}" pid="3" name="MSIP_Label_15394ae5-69af-439d-af88-cb521c31c0c5_SetDate">
    <vt:lpwstr>2026-06-06T10:47:25Z</vt:lpwstr>
  </property>
  <property fmtid="{D5CDD505-2E9C-101B-9397-08002B2CF9AE}" pid="4" name="MSIP_Label_15394ae5-69af-439d-af88-cb521c31c0c5_Method">
    <vt:lpwstr>Standard</vt:lpwstr>
  </property>
  <property fmtid="{D5CDD505-2E9C-101B-9397-08002B2CF9AE}" pid="5" name="MSIP_Label_15394ae5-69af-439d-af88-cb521c31c0c5_Name">
    <vt:lpwstr>DXC Internal</vt:lpwstr>
  </property>
  <property fmtid="{D5CDD505-2E9C-101B-9397-08002B2CF9AE}" pid="6" name="MSIP_Label_15394ae5-69af-439d-af88-cb521c31c0c5_SiteId">
    <vt:lpwstr>93f33571-550f-43cf-b09f-cd331338d086</vt:lpwstr>
  </property>
  <property fmtid="{D5CDD505-2E9C-101B-9397-08002B2CF9AE}" pid="7" name="MSIP_Label_15394ae5-69af-439d-af88-cb521c31c0c5_ActionId">
    <vt:lpwstr>d68b9a4a-702a-42e0-a773-88592d0b632f</vt:lpwstr>
  </property>
  <property fmtid="{D5CDD505-2E9C-101B-9397-08002B2CF9AE}" pid="8" name="MSIP_Label_15394ae5-69af-439d-af88-cb521c31c0c5_ContentBits">
    <vt:lpwstr>0</vt:lpwstr>
  </property>
  <property fmtid="{D5CDD505-2E9C-101B-9397-08002B2CF9AE}" pid="9" name="MSIP_Label_15394ae5-69af-439d-af88-cb521c31c0c5_Tag">
    <vt:lpwstr>10, 3, 0, 1</vt:lpwstr>
  </property>
</Properties>
</file>